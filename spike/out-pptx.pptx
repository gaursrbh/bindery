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3A5F"/>
                </a:solidFill>
              </a:defRPr>
            </a:pPr>
            <a:r>
              <a:t>Q3 2026</a:t>
            </a:r>
          </a:p>
          <a:p>
            <a:pPr>
              <a:defRPr sz="3200" b="1">
                <a:solidFill>
                  <a:srgbClr val="1A1A1A"/>
                </a:solidFill>
              </a:defRPr>
            </a:pPr>
            <a:r>
              <a:t>Enrollment up 12%, cost per member flat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142,300</a:t>
            </a:r>
          </a:p>
          <a:p>
            <a:pPr>
              <a:defRPr sz="1200">
                <a:solidFill>
                  <a:srgbClr val="4A4A4A"/>
                </a:solidFill>
              </a:defRPr>
            </a:pPr>
            <a:r>
              <a:t>Members enrolled</a:t>
            </a:r>
          </a:p>
          <a:p>
            <a:pPr>
              <a:defRPr sz="1200">
                <a:solidFill>
                  <a:srgbClr val="C97A2B"/>
                </a:solidFill>
              </a:defRPr>
            </a:pPr>
            <a:r>
              <a:t>+12%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37744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$412</a:t>
            </a:r>
          </a:p>
          <a:p>
            <a:pPr>
              <a:defRPr sz="1200">
                <a:solidFill>
                  <a:srgbClr val="4A4A4A"/>
                </a:solidFill>
              </a:defRPr>
            </a:pPr>
            <a:r>
              <a:t>Cost per member</a:t>
            </a:r>
          </a:p>
          <a:p>
            <a:pPr>
              <a:defRPr sz="1200">
                <a:solidFill>
                  <a:srgbClr val="C97A2B"/>
                </a:solidFill>
              </a:defRPr>
            </a:pPr>
            <a:r>
              <a:t>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237744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94.2%</a:t>
            </a:r>
          </a:p>
          <a:p>
            <a:pPr>
              <a:defRPr sz="1200">
                <a:solidFill>
                  <a:srgbClr val="4A4A4A"/>
                </a:solidFill>
              </a:defRPr>
            </a:pPr>
            <a:r>
              <a:t>Retention</a:t>
            </a:r>
          </a:p>
          <a:p>
            <a:pPr>
              <a:defRPr sz="1200">
                <a:solidFill>
                  <a:srgbClr val="C97A2B"/>
                </a:solidFill>
              </a:defRPr>
            </a:pPr>
            <a:r>
              <a:t>+1.4pt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